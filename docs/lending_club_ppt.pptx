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Space Grotesk Light"/>
      <p:regular r:id="rId16"/>
      <p:bold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SpaceGroteskLight-bold.fntdata"/><Relationship Id="rId16" Type="http://schemas.openxmlformats.org/officeDocument/2006/relationships/font" Target="fonts/SpaceGroteskLight-regular.fntdata"/><Relationship Id="rId19" Type="http://schemas.openxmlformats.org/officeDocument/2006/relationships/font" Target="fonts/SpaceGrotesk-bold.fntdata"/><Relationship Id="rId18" Type="http://schemas.openxmlformats.org/officeDocument/2006/relationships/font" Target="fonts/Space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02d5a23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02d5a23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02d5a2352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02d5a2352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02d5a235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02d5a235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02d5a2352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02d5a2352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02d5a2352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02d5a2352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02d5a2352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02d5a2352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8689200" cy="8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Business plan </a:t>
            </a:r>
            <a:endParaRPr/>
          </a:p>
        </p:txBody>
      </p:sp>
      <p:sp>
        <p:nvSpPr>
          <p:cNvPr id="320" name="Google Shape;320;p38"/>
          <p:cNvSpPr txBox="1"/>
          <p:nvPr/>
        </p:nvSpPr>
        <p:spPr>
          <a:xfrm>
            <a:off x="226100" y="1085875"/>
            <a:ext cx="6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By Riya Mathur, Keyur Patel and Akshit Verma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4574" y="1729375"/>
            <a:ext cx="6371100" cy="34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/>
          <p:nvPr>
            <p:ph type="title"/>
          </p:nvPr>
        </p:nvSpPr>
        <p:spPr>
          <a:xfrm>
            <a:off x="226100" y="144575"/>
            <a:ext cx="8689200" cy="13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The Problem &amp; Our High-Yield Solution</a:t>
            </a:r>
            <a:endParaRPr sz="5300"/>
          </a:p>
        </p:txBody>
      </p:sp>
      <p:sp>
        <p:nvSpPr>
          <p:cNvPr id="327" name="Google Shape;327;p39"/>
          <p:cNvSpPr txBox="1"/>
          <p:nvPr/>
        </p:nvSpPr>
        <p:spPr>
          <a:xfrm>
            <a:off x="226100" y="1793600"/>
            <a:ext cx="85233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Opportunity:</a:t>
            </a:r>
            <a:r>
              <a:rPr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High yields exist in P2P lending, but are balanced by significant, often avoidable default risk.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Inefficiency: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The industry baseline for predicting loan defaults yields an AUROC of approximately 0.72.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 Solution: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Our firm seeks $500,000 in seed funding to deploy proprietary Machine Learning algorithms.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Mission:</a:t>
            </a:r>
            <a:r>
              <a:rPr lang="en" sz="17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Outperform standard market returns by launching a high-yield fund on the Lending Club platform.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226100" y="144575"/>
            <a:ext cx="8689200" cy="9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Beyond the Grade: Identifying Good vs. Bad Loans</a:t>
            </a:r>
            <a:endParaRPr sz="3800"/>
          </a:p>
        </p:txBody>
      </p:sp>
      <p:sp>
        <p:nvSpPr>
          <p:cNvPr id="333" name="Google Shape;333;p40"/>
          <p:cNvSpPr txBox="1"/>
          <p:nvPr/>
        </p:nvSpPr>
        <p:spPr>
          <a:xfrm>
            <a:off x="128425" y="1138775"/>
            <a:ext cx="9213000" cy="4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 u="sng">
                <a:solidFill>
                  <a:schemeClr val="lt1"/>
                </a:solidFill>
              </a:rPr>
              <a:t>Target Market:</a:t>
            </a:r>
            <a:r>
              <a:rPr lang="en" sz="1600">
                <a:solidFill>
                  <a:schemeClr val="lt1"/>
                </a:solidFill>
              </a:rPr>
              <a:t> We avoid low-yield Grade A loans and operate primarily in the mid-to-high risk grades (C, D, and E) where interest yields are high.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 u="sng">
                <a:solidFill>
                  <a:schemeClr val="lt1"/>
                </a:solidFill>
              </a:rPr>
              <a:t>The Flaw We Exploit:</a:t>
            </a:r>
            <a:r>
              <a:rPr lang="en" sz="1600" u="sng">
                <a:solidFill>
                  <a:schemeClr val="lt1"/>
                </a:solidFill>
              </a:rPr>
              <a:t> </a:t>
            </a:r>
            <a:r>
              <a:rPr lang="en" sz="1600">
                <a:solidFill>
                  <a:schemeClr val="lt1"/>
                </a:solidFill>
              </a:rPr>
              <a:t>Traditional grading fails to capture the complex, non-linear correlations in borrower behavior that lead to charge-offs.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 u="sng">
                <a:solidFill>
                  <a:schemeClr val="lt1"/>
                </a:solidFill>
              </a:rPr>
              <a:t>The Proprietary Edge:</a:t>
            </a:r>
            <a:r>
              <a:rPr lang="en" sz="1600" u="sng">
                <a:solidFill>
                  <a:schemeClr val="lt1"/>
                </a:solidFill>
              </a:rPr>
              <a:t> </a:t>
            </a:r>
            <a:r>
              <a:rPr lang="en" sz="1600">
                <a:solidFill>
                  <a:schemeClr val="lt1"/>
                </a:solidFill>
              </a:rPr>
              <a:t>We plan to use advanced classifiers, like Support Vector Machines (SVM) and Deep Learning (Neural Networks), to establish high-margin decision boundaries that capture these non-linear patterns.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 u="sng">
                <a:solidFill>
                  <a:schemeClr val="lt1"/>
                </a:solidFill>
              </a:rPr>
              <a:t>The Insight:</a:t>
            </a:r>
            <a:r>
              <a:rPr lang="en" sz="1600">
                <a:solidFill>
                  <a:schemeClr val="lt1"/>
                </a:solidFill>
              </a:rPr>
              <a:t> This allows us to invest selectively in the "Good Standing" individuals within these risky bands, filtering specific borrowers whom the standard platform grades (A-G) miss.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226100" y="144575"/>
            <a:ext cx="8689200" cy="6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Our Model </a:t>
            </a:r>
            <a:endParaRPr sz="5300"/>
          </a:p>
        </p:txBody>
      </p:sp>
      <p:sp>
        <p:nvSpPr>
          <p:cNvPr id="339" name="Google Shape;339;p41"/>
          <p:cNvSpPr txBox="1"/>
          <p:nvPr/>
        </p:nvSpPr>
        <p:spPr>
          <a:xfrm>
            <a:off x="226100" y="795400"/>
            <a:ext cx="8355300" cy="4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1"/>
                </a:solidFill>
              </a:rPr>
              <a:t>Technical Foundation:</a:t>
            </a:r>
            <a:r>
              <a:rPr lang="en" sz="1800" u="sng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</a:rPr>
              <a:t>We restricted analysis to the 31 features available to an investor, confirming that Interest Rate, Loan Term, and FICO Score are the strongest predictors of charge-off.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1"/>
                </a:solidFill>
              </a:rPr>
              <a:t>Initial Baseline:</a:t>
            </a:r>
            <a:r>
              <a:rPr lang="en" sz="1800" u="sng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</a:rPr>
              <a:t>Our initial linear model achieved a test set AUROC of 0.689 when rigorously tested against the most recent 10% of loans.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1"/>
                </a:solidFill>
              </a:rPr>
              <a:t>The Justification for Scale:</a:t>
            </a:r>
            <a:r>
              <a:rPr lang="en" sz="1800" u="sng">
                <a:solidFill>
                  <a:schemeClr val="lt1"/>
                </a:solidFill>
              </a:rPr>
              <a:t> </a:t>
            </a:r>
            <a:r>
              <a:rPr lang="en" sz="1800">
                <a:solidFill>
                  <a:schemeClr val="lt1"/>
                </a:solidFill>
              </a:rPr>
              <a:t>This 0.689 score falls below the industry baseline of approximately ≈0.72 , signaling that the critical risk factors are complex and non-linear.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1"/>
                </a:solidFill>
              </a:rPr>
              <a:t>Our Next Step:</a:t>
            </a:r>
            <a:r>
              <a:rPr lang="en" sz="1800">
                <a:solidFill>
                  <a:schemeClr val="lt1"/>
                </a:solidFill>
              </a:rPr>
              <a:t> We are deploying advanced Support Vector Machines and Deep Learning (Neural Networks) to capture these non-linear correlations and target an enhanced AUROC superior to the 0.72 baseline.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title"/>
          </p:nvPr>
        </p:nvSpPr>
        <p:spPr>
          <a:xfrm>
            <a:off x="226100" y="144575"/>
            <a:ext cx="86892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How</a:t>
            </a:r>
            <a:r>
              <a:rPr lang="en" sz="4800"/>
              <a:t> Investors Make Money </a:t>
            </a:r>
            <a:endParaRPr sz="4800"/>
          </a:p>
        </p:txBody>
      </p:sp>
      <p:sp>
        <p:nvSpPr>
          <p:cNvPr id="345" name="Google Shape;345;p42"/>
          <p:cNvSpPr txBox="1"/>
          <p:nvPr/>
        </p:nvSpPr>
        <p:spPr>
          <a:xfrm>
            <a:off x="226100" y="1025175"/>
            <a:ext cx="8735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</a:rPr>
              <a:t>The Fee Structure:</a:t>
            </a:r>
            <a:r>
              <a:rPr lang="en" sz="1500" u="sng">
                <a:solidFill>
                  <a:schemeClr val="lt1"/>
                </a:solidFill>
              </a:rPr>
              <a:t> </a:t>
            </a:r>
            <a:r>
              <a:rPr lang="en" sz="1500">
                <a:solidFill>
                  <a:schemeClr val="lt1"/>
                </a:solidFill>
              </a:rPr>
              <a:t>We operate on a standard "2-and-20" hedge fund model: </a:t>
            </a:r>
            <a:r>
              <a:rPr b="1" lang="en" sz="1500">
                <a:solidFill>
                  <a:schemeClr val="lt1"/>
                </a:solidFill>
              </a:rPr>
              <a:t>2% annual </a:t>
            </a:r>
            <a:r>
              <a:rPr lang="en" sz="1500">
                <a:solidFill>
                  <a:schemeClr val="lt1"/>
                </a:solidFill>
              </a:rPr>
              <a:t>Management Fee on AUM and </a:t>
            </a:r>
            <a:r>
              <a:rPr b="1" lang="en" sz="1500">
                <a:solidFill>
                  <a:schemeClr val="lt1"/>
                </a:solidFill>
              </a:rPr>
              <a:t>20% Performance Fee</a:t>
            </a:r>
            <a:r>
              <a:rPr lang="en" sz="1500">
                <a:solidFill>
                  <a:schemeClr val="lt1"/>
                </a:solidFill>
              </a:rPr>
              <a:t> above a 5% hurdle rate.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</a:rPr>
              <a:t>The Value Proposition:</a:t>
            </a:r>
            <a:r>
              <a:rPr lang="en" sz="1500" u="sng">
                <a:solidFill>
                  <a:schemeClr val="lt1"/>
                </a:solidFill>
              </a:rPr>
              <a:t> </a:t>
            </a:r>
            <a:r>
              <a:rPr lang="en" sz="1500">
                <a:solidFill>
                  <a:schemeClr val="lt1"/>
                </a:solidFill>
              </a:rPr>
              <a:t>We only earn the full performance fee when we successfully identify loans that pay back.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</a:rPr>
              <a:t>Impact of Prediction:</a:t>
            </a:r>
            <a:r>
              <a:rPr lang="en" sz="1500">
                <a:solidFill>
                  <a:schemeClr val="lt1"/>
                </a:solidFill>
              </a:rPr>
              <a:t> For every 1% improvement in default prediction, we estimate a 0.5% increase in Net Annualized Return (NAR).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</a:rPr>
              <a:t>Projected Returns:</a:t>
            </a:r>
            <a:r>
              <a:rPr lang="en" sz="1500" u="sng">
                <a:solidFill>
                  <a:schemeClr val="lt1"/>
                </a:solidFill>
              </a:rPr>
              <a:t> </a:t>
            </a:r>
            <a:r>
              <a:rPr lang="en" sz="1500">
                <a:solidFill>
                  <a:schemeClr val="lt1"/>
                </a:solidFill>
              </a:rPr>
              <a:t>We project a Net Annualized Return (NAR) of 9-11%, significantly higher than the passive investor average of 4-6%.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226100" y="144575"/>
            <a:ext cx="8689200" cy="8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Our Growth</a:t>
            </a:r>
            <a:endParaRPr/>
          </a:p>
        </p:txBody>
      </p:sp>
      <p:sp>
        <p:nvSpPr>
          <p:cNvPr id="351" name="Google Shape;351;p43"/>
          <p:cNvSpPr txBox="1"/>
          <p:nvPr/>
        </p:nvSpPr>
        <p:spPr>
          <a:xfrm>
            <a:off x="388850" y="1148900"/>
            <a:ext cx="7467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The Ask: We require $500,000 in seed capital.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$200k: Initial Proof of Concept Portfolio.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$150k: Technical Infrastructure (AWS servers for real-time API integration).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$150k: Operations, Legal, and Compliance.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The Vision: We are not just an investment firm; you are buying the algorithm that solves the default problem.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Traction (Year 3): Projected AUM of $10 Million and Annual Revenue (Fees) of $400,000.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600">
                <a:solidFill>
                  <a:schemeClr val="lt1"/>
                </a:solidFill>
              </a:rPr>
              <a:t>We ask for a "GO" decision to revolutionize P2P portfolio management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